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2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gms.gov.i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4/21/6971" TargetMode="External"/><Relationship Id="rId5" Type="http://schemas.openxmlformats.org/officeDocument/2006/relationships/hyperlink" Target="https://www.mdpi.com/2227-9717/11/6/1691" TargetMode="External"/><Relationship Id="rId4" Type="http://schemas.openxmlformats.org/officeDocument/2006/relationships/hyperlink" Target="https://onlinelibrary.wiley.com/doi/10.1155/2018/93018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715744" y="1722643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772" y="504184"/>
            <a:ext cx="6844767" cy="6052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SIH26025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Development of an AI-enabled Low Cost Real Time Mine Subsidence Monitoring, Prediction and Early Warning System for Underground Coal Mines in India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SIH26-A0H-T285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Invictus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083"/>
            <a:ext cx="1527588" cy="5232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Invictus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344DCE-2C29-19E1-5612-3F3E3C198B8A}"/>
              </a:ext>
            </a:extLst>
          </p:cNvPr>
          <p:cNvSpPr/>
          <p:nvPr/>
        </p:nvSpPr>
        <p:spPr>
          <a:xfrm>
            <a:off x="162064" y="1173311"/>
            <a:ext cx="5167020" cy="15267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• </a:t>
            </a:r>
            <a:r>
              <a:rPr lang="en-US" sz="1600" b="1" dirty="0"/>
              <a:t>Underground coal mines</a:t>
            </a:r>
            <a:r>
              <a:rPr lang="en-US" sz="1600" dirty="0"/>
              <a:t> face </a:t>
            </a:r>
            <a:r>
              <a:rPr lang="en-US" sz="1600" b="1" dirty="0"/>
              <a:t>sudden roof instability, ground movement, and strata failures</a:t>
            </a:r>
            <a:r>
              <a:rPr lang="en-US" sz="1600" dirty="0"/>
              <a:t>, while </a:t>
            </a:r>
            <a:r>
              <a:rPr lang="en-US" sz="1600" b="1" dirty="0"/>
              <a:t>single-sensor monitoring</a:t>
            </a:r>
            <a:r>
              <a:rPr lang="en-US" sz="1600" dirty="0"/>
              <a:t> can cause </a:t>
            </a:r>
            <a:r>
              <a:rPr lang="en-US" sz="1600" b="1" dirty="0"/>
              <a:t>false alarms, blind spots, </a:t>
            </a:r>
            <a:r>
              <a:rPr lang="en-US" sz="1600" dirty="0"/>
              <a:t>and</a:t>
            </a:r>
            <a:r>
              <a:rPr lang="en-US" sz="1600" b="1" dirty="0"/>
              <a:t> missed dangers</a:t>
            </a:r>
            <a:r>
              <a:rPr lang="en-US" sz="1600" dirty="0"/>
              <a:t>, putting workers and infrastructure at serious risk.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8C6AB-4B1F-0CFC-EF8E-E0B9CA7CEB9E}"/>
              </a:ext>
            </a:extLst>
          </p:cNvPr>
          <p:cNvSpPr txBox="1"/>
          <p:nvPr/>
        </p:nvSpPr>
        <p:spPr>
          <a:xfrm>
            <a:off x="386181" y="736092"/>
            <a:ext cx="209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PROBLEM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50FCC8-B191-CD68-4DBA-82F717F8F4D7}"/>
              </a:ext>
            </a:extLst>
          </p:cNvPr>
          <p:cNvSpPr/>
          <p:nvPr/>
        </p:nvSpPr>
        <p:spPr>
          <a:xfrm>
            <a:off x="5752220" y="1174091"/>
            <a:ext cx="5948911" cy="15259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/>
              <a:t>• A </a:t>
            </a:r>
            <a:r>
              <a:rPr lang="en-US" sz="1600" b="1" dirty="0"/>
              <a:t>Multi-Modal Mine Safety System</a:t>
            </a:r>
            <a:r>
              <a:rPr lang="en-US" sz="1600" dirty="0"/>
              <a:t> that combines </a:t>
            </a:r>
            <a:r>
              <a:rPr lang="en-US" sz="1600" b="1" dirty="0"/>
              <a:t>sensor, sound, camera, and historical data</a:t>
            </a:r>
            <a:r>
              <a:rPr lang="en-US" sz="1600" dirty="0"/>
              <a:t> to detect risks in </a:t>
            </a:r>
            <a:r>
              <a:rPr lang="en-US" sz="1600" b="1" dirty="0"/>
              <a:t>real time</a:t>
            </a:r>
            <a:r>
              <a:rPr lang="en-US" sz="1600" dirty="0"/>
              <a:t> and provide </a:t>
            </a:r>
            <a:r>
              <a:rPr lang="en-US" sz="1600" b="1" dirty="0"/>
              <a:t>reliable alerts</a:t>
            </a:r>
            <a:r>
              <a:rPr lang="en-US" sz="1600" dirty="0"/>
              <a:t> by using AI and monitoring sensor health.</a:t>
            </a:r>
          </a:p>
          <a:p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48346A-327D-D727-3D38-6F43312D52E0}"/>
              </a:ext>
            </a:extLst>
          </p:cNvPr>
          <p:cNvSpPr txBox="1"/>
          <p:nvPr/>
        </p:nvSpPr>
        <p:spPr>
          <a:xfrm>
            <a:off x="5752220" y="743828"/>
            <a:ext cx="209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OUR IDEA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40159B-587D-6EE8-039B-E71BF2C5360E}"/>
              </a:ext>
            </a:extLst>
          </p:cNvPr>
          <p:cNvSpPr txBox="1"/>
          <p:nvPr/>
        </p:nvSpPr>
        <p:spPr>
          <a:xfrm>
            <a:off x="386181" y="3053175"/>
            <a:ext cx="3900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PROPOSED SOLUTION: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7634A-F18E-CBD7-FC3B-944290B05F7A}"/>
              </a:ext>
            </a:extLst>
          </p:cNvPr>
          <p:cNvSpPr/>
          <p:nvPr/>
        </p:nvSpPr>
        <p:spPr>
          <a:xfrm>
            <a:off x="162064" y="3573992"/>
            <a:ext cx="5167020" cy="32825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Edge Sensing Nodes: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en-US" sz="1600" dirty="0"/>
              <a:t>Deploy sensors to monitor </a:t>
            </a:r>
            <a:r>
              <a:rPr lang="en-US" sz="1600" b="1" dirty="0"/>
              <a:t>displacement, tilt, strain, and abnormal sounds</a:t>
            </a:r>
            <a:r>
              <a:rPr lang="en-US" sz="1600" dirty="0"/>
              <a:t>, with cameras for </a:t>
            </a:r>
            <a:r>
              <a:rPr lang="en-US" sz="1600" b="1" dirty="0"/>
              <a:t>periodic structural monitoring</a:t>
            </a:r>
            <a:r>
              <a:rPr lang="en-US" sz="1600" dirty="0"/>
              <a:t>.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Reliable Telemetry: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en-US" sz="1600" dirty="0"/>
              <a:t>Send sensor data through </a:t>
            </a:r>
            <a:r>
              <a:rPr lang="en-US" sz="1600" b="1" dirty="0"/>
              <a:t>LoRa/mesh communication</a:t>
            </a:r>
            <a:r>
              <a:rPr lang="en-US" sz="1600" dirty="0"/>
              <a:t> to a </a:t>
            </a:r>
            <a:r>
              <a:rPr lang="en-US" sz="1600" b="1" dirty="0"/>
              <a:t>surface gateway</a:t>
            </a:r>
            <a:r>
              <a:rPr lang="en-US" sz="1600" dirty="0"/>
              <a:t> for monitoring even with limited connectivity.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Intelligent Risk &amp; Response: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en-US" sz="1600" dirty="0"/>
              <a:t>Use </a:t>
            </a:r>
            <a:r>
              <a:rPr lang="en-US" sz="1600" b="1" dirty="0"/>
              <a:t>AI to combine sensor data</a:t>
            </a:r>
            <a:r>
              <a:rPr lang="en-US" sz="1600" dirty="0"/>
              <a:t>, assess </a:t>
            </a:r>
            <a:r>
              <a:rPr lang="en-US" sz="1600" b="1" dirty="0"/>
              <a:t>risk and confidence</a:t>
            </a:r>
            <a:r>
              <a:rPr lang="en-US" sz="1600" dirty="0"/>
              <a:t>, detect faults, and provide </a:t>
            </a:r>
            <a:r>
              <a:rPr lang="en-US" sz="1600" b="1" dirty="0"/>
              <a:t>real-time alerts and safety recommendations</a:t>
            </a:r>
            <a:r>
              <a:rPr lang="en-US" sz="1600" dirty="0"/>
              <a:t>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FDB47C-2C54-16BA-EC2F-9A799C730A3C}"/>
              </a:ext>
            </a:extLst>
          </p:cNvPr>
          <p:cNvSpPr txBox="1"/>
          <p:nvPr/>
        </p:nvSpPr>
        <p:spPr>
          <a:xfrm>
            <a:off x="5849878" y="3110728"/>
            <a:ext cx="2376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INNOVATION: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D788CE-C755-BBAA-9621-56F479D2EBA2}"/>
              </a:ext>
            </a:extLst>
          </p:cNvPr>
          <p:cNvSpPr/>
          <p:nvPr/>
        </p:nvSpPr>
        <p:spPr>
          <a:xfrm>
            <a:off x="5749128" y="3572173"/>
            <a:ext cx="6280807" cy="3284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Multi-Modal Evidence Fusion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en-US" sz="1600" dirty="0"/>
              <a:t>Combines </a:t>
            </a:r>
            <a:r>
              <a:rPr lang="en-US" sz="1600" b="1" dirty="0"/>
              <a:t>structural, sound, and camera data</a:t>
            </a:r>
            <a:r>
              <a:rPr lang="en-US" sz="1600" dirty="0"/>
              <a:t> to improve accuracy and reduce false alarms.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Confidence-Aware Assessment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en-US" sz="1600" dirty="0"/>
              <a:t>Shows the </a:t>
            </a:r>
            <a:r>
              <a:rPr lang="en-US" sz="1600" b="1" dirty="0"/>
              <a:t>risk level, confidence, and system health</a:t>
            </a:r>
            <a:r>
              <a:rPr lang="en-US" sz="1600" dirty="0"/>
              <a:t> instead of treating every abnormal reading as a real danger.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Intelligent Sensor Placement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lvl="1"/>
            <a:r>
              <a:rPr lang="en-US" sz="1600" dirty="0"/>
              <a:t>Places sensors in the </a:t>
            </a:r>
            <a:r>
              <a:rPr lang="en-US" sz="1600" b="1" dirty="0"/>
              <a:t>best locations</a:t>
            </a:r>
            <a:r>
              <a:rPr lang="en-US" sz="1600" dirty="0"/>
              <a:t> based on </a:t>
            </a:r>
            <a:r>
              <a:rPr lang="en-US" sz="1600" b="1" dirty="0"/>
              <a:t>risk, coverage, and communication</a:t>
            </a:r>
            <a:r>
              <a:rPr lang="en-US" sz="1600" dirty="0"/>
              <a:t>.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•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Fault-Tolerant Monitoring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en-US" sz="1600" dirty="0"/>
              <a:t>Detects </a:t>
            </a:r>
            <a:r>
              <a:rPr lang="en-US" sz="1600" b="1" dirty="0"/>
              <a:t>sensor or communication failures</a:t>
            </a:r>
            <a:r>
              <a:rPr lang="en-US" sz="1600" dirty="0"/>
              <a:t> and continues monitoring with the available sensors instead of showing the area as safe.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3C71FD-F72A-600D-A140-7907350B8CF8}"/>
              </a:ext>
            </a:extLst>
          </p:cNvPr>
          <p:cNvSpPr txBox="1"/>
          <p:nvPr/>
        </p:nvSpPr>
        <p:spPr>
          <a:xfrm>
            <a:off x="1900428" y="233509"/>
            <a:ext cx="7879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Multi-Modal Intelligent Mine Safety &amp; Early Warning System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CC8DA0-0FF9-988E-6513-FF275DDF6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2745"/>
            <a:ext cx="447457" cy="3023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DA1298-29C0-DA59-1066-CDF2AD38F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916" y="744620"/>
            <a:ext cx="435341" cy="3651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DAFAD85-6AA0-B8B5-B6E1-262E552C7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976" y="3152500"/>
            <a:ext cx="356306" cy="3779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F4887ED-E5E9-947D-0A1C-2BB3EB2DCE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35" y="3129966"/>
            <a:ext cx="395221" cy="277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3462" y="-136807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04" y="1501"/>
            <a:ext cx="2021232" cy="954388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B475A25-34F6-992B-AD44-4BBE8053AD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083"/>
            <a:ext cx="1527588" cy="5232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Invictus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5BAFE-0497-61D9-CBC9-C4351C916E5D}"/>
              </a:ext>
            </a:extLst>
          </p:cNvPr>
          <p:cNvSpPr txBox="1"/>
          <p:nvPr/>
        </p:nvSpPr>
        <p:spPr>
          <a:xfrm>
            <a:off x="386180" y="851738"/>
            <a:ext cx="4394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TECHNOLOGIES &amp; TOOLS STACK: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FE15B1-BC79-ECC6-70EB-036C164552D0}"/>
              </a:ext>
            </a:extLst>
          </p:cNvPr>
          <p:cNvSpPr txBox="1"/>
          <p:nvPr/>
        </p:nvSpPr>
        <p:spPr>
          <a:xfrm>
            <a:off x="6360607" y="864542"/>
            <a:ext cx="6043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SYSTEM ARCHITECTURE &amp; WORKFLOW: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5CFBB98-84C2-AEEB-EEA5-0451C974E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08" y="1326207"/>
            <a:ext cx="4582734" cy="5070077"/>
          </a:xfrm>
          <a:prstGeom prst="rect">
            <a:avLst/>
          </a:prstGeom>
        </p:spPr>
      </p:pic>
      <p:pic>
        <p:nvPicPr>
          <p:cNvPr id="17408" name="Picture 17407">
            <a:extLst>
              <a:ext uri="{FF2B5EF4-FFF2-40B4-BE49-F238E27FC236}">
                <a16:creationId xmlns:a16="http://schemas.microsoft.com/office/drawing/2014/main" id="{0C153EFE-9903-AB3F-CCD1-3D3F23879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394" y="1214420"/>
            <a:ext cx="5974426" cy="5560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01622" y="-271560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392" y="1500"/>
            <a:ext cx="1943544" cy="917705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1EAA630-60E5-B5FE-1AB0-9C917205F1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083"/>
            <a:ext cx="1527588" cy="5232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Invictus</a:t>
            </a:r>
            <a:endParaRPr lang="en-IN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271C98-BA23-D629-3434-5B80B1F9D12F}"/>
                  </a:ext>
                </a:extLst>
              </p:cNvPr>
              <p:cNvSpPr txBox="1"/>
              <p:nvPr/>
            </p:nvSpPr>
            <p:spPr>
              <a:xfrm>
                <a:off x="64698" y="1031977"/>
                <a:ext cx="5520993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accent1"/>
                    </a:solidFill>
                  </a:rPr>
                  <a:t>Technical: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400" dirty="0"/>
                  <a:t>Built with field-proven hardware (</a:t>
                </a:r>
                <a:r>
                  <a:rPr lang="en-US" sz="1400" b="1" dirty="0"/>
                  <a:t>ESP32</a:t>
                </a:r>
                <a:r>
                  <a:rPr lang="en-US" sz="1400" dirty="0"/>
                  <a:t>, </a:t>
                </a:r>
                <a:r>
                  <a:rPr lang="en-US" sz="1400" b="1" dirty="0"/>
                  <a:t>VL53L0X ToF</a:t>
                </a:r>
                <a:r>
                  <a:rPr lang="en-US" sz="1400" dirty="0"/>
                  <a:t>, </a:t>
                </a:r>
                <a:r>
                  <a:rPr lang="en-US" sz="1400" b="1" dirty="0"/>
                  <a:t>MPU6050</a:t>
                </a:r>
                <a:r>
                  <a:rPr lang="en-US" sz="1400" dirty="0"/>
                  <a:t>, </a:t>
                </a:r>
                <a:r>
                  <a:rPr lang="en-US" sz="1400" b="1" dirty="0"/>
                  <a:t>Piezo</a:t>
                </a:r>
                <a:r>
                  <a:rPr lang="en-US" sz="1400" dirty="0"/>
                  <a:t>, </a:t>
                </a:r>
                <a:r>
                  <a:rPr lang="en-US" sz="1400" b="1" dirty="0"/>
                  <a:t>LoRa</a:t>
                </a:r>
                <a:r>
                  <a:rPr lang="en-US" sz="1400" dirty="0"/>
                  <a:t>) and validated on a screw-actuated rig for continuous deformation testing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>
                        <a:latin typeface="Cambria Math" panose="02040503050406030204" pitchFamily="18" charset="0"/>
                      </a:rPr>
                      <m:t>Normal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400" i="0">
                        <a:latin typeface="Cambria Math" panose="02040503050406030204" pitchFamily="18" charset="0"/>
                      </a:rPr>
                      <m:t>Warning</m:t>
                    </m:r>
                    <m:r>
                      <a:rPr lang="en-US" sz="1400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1400" i="0">
                        <a:latin typeface="Cambria Math" panose="02040503050406030204" pitchFamily="18" charset="0"/>
                      </a:rPr>
                      <m:t>Critical</m:t>
                    </m:r>
                  </m:oMath>
                </a14:m>
                <a:r>
                  <a:rPr lang="en-US" sz="1400" dirty="0"/>
                  <a:t>).</a:t>
                </a:r>
              </a:p>
              <a:p>
                <a:endParaRPr lang="en-US" sz="1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accent1"/>
                    </a:solidFill>
                  </a:rPr>
                  <a:t>Financial: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400" b="1" dirty="0"/>
                  <a:t>Low-BOM edge nodes</a:t>
                </a:r>
                <a:r>
                  <a:rPr lang="en-US" sz="1400" dirty="0"/>
                  <a:t> and an open-source software stack (</a:t>
                </a:r>
                <a:r>
                  <a:rPr lang="en-US" sz="1400" b="1" dirty="0"/>
                  <a:t>Python</a:t>
                </a:r>
                <a:r>
                  <a:rPr lang="en-US" sz="1400" dirty="0"/>
                  <a:t>, </a:t>
                </a:r>
                <a:r>
                  <a:rPr lang="en-US" sz="1400" b="1" dirty="0"/>
                  <a:t>OpenCV</a:t>
                </a:r>
                <a:r>
                  <a:rPr lang="en-US" sz="1400" dirty="0"/>
                  <a:t>, </a:t>
                </a:r>
                <a:r>
                  <a:rPr lang="en-US" sz="1400" b="1" dirty="0" err="1"/>
                  <a:t>FreeRTOS</a:t>
                </a:r>
                <a:r>
                  <a:rPr lang="en-US" sz="1400" dirty="0"/>
                  <a:t>) avoid costly industrial arrays and licensing overhead.</a:t>
                </a:r>
              </a:p>
              <a:p>
                <a:pPr lvl="0"/>
                <a:endParaRPr lang="en-US" sz="1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accent1"/>
                    </a:solidFill>
                  </a:rPr>
                  <a:t>Operational:</a:t>
                </a:r>
                <a:r>
                  <a:rPr lang="en-US" sz="1400" dirty="0"/>
                  <a:t> </a:t>
                </a:r>
                <a:r>
                  <a:rPr lang="en-US" sz="1400" b="1" dirty="0"/>
                  <a:t>Autonomous edge processing</a:t>
                </a:r>
                <a:r>
                  <a:rPr lang="en-US" sz="1400" dirty="0"/>
                  <a:t> with local siren triggers ensures zero-cloud dependency, while </a:t>
                </a:r>
                <a:r>
                  <a:rPr lang="en-US" sz="1400" b="1" dirty="0"/>
                  <a:t>self-diagnostic health tracking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4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400" b="1" dirty="0"/>
                  <a:t>)</a:t>
                </a:r>
                <a:r>
                  <a:rPr lang="en-US" sz="1400" dirty="0"/>
                  <a:t> enables predictive maintenance.</a:t>
                </a:r>
              </a:p>
              <a:p>
                <a:pPr lvl="0"/>
                <a:endParaRPr lang="en-US" sz="1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solidFill>
                      <a:schemeClr val="accent1"/>
                    </a:solidFill>
                  </a:rPr>
                  <a:t>Market: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400" dirty="0"/>
                  <a:t>Complies directly with </a:t>
                </a:r>
                <a:r>
                  <a:rPr lang="en-US" sz="1400" b="1" dirty="0"/>
                  <a:t>DGMS SCAMP mandates</a:t>
                </a:r>
                <a:r>
                  <a:rPr lang="en-US" sz="1400" dirty="0"/>
                  <a:t> across underground coal and metal mines.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271C98-BA23-D629-3434-5B80B1F9D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8" y="1031977"/>
                <a:ext cx="5520993" cy="3508653"/>
              </a:xfrm>
              <a:prstGeom prst="rect">
                <a:avLst/>
              </a:prstGeom>
              <a:blipFill>
                <a:blip r:embed="rId4"/>
                <a:stretch>
                  <a:fillRect l="-442" t="-521" r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2E2CEC-9F28-5734-84D9-62C327A57E37}"/>
              </a:ext>
            </a:extLst>
          </p:cNvPr>
          <p:cNvSpPr txBox="1"/>
          <p:nvPr/>
        </p:nvSpPr>
        <p:spPr>
          <a:xfrm>
            <a:off x="6701505" y="691472"/>
            <a:ext cx="3132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Potential Challenges and Risks: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DC0D0-6FBF-06A2-F089-4100C836563F}"/>
              </a:ext>
            </a:extLst>
          </p:cNvPr>
          <p:cNvSpPr txBox="1"/>
          <p:nvPr/>
        </p:nvSpPr>
        <p:spPr>
          <a:xfrm>
            <a:off x="5983048" y="1074739"/>
            <a:ext cx="507511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Technical Risks</a:t>
            </a:r>
            <a:r>
              <a:rPr lang="en-US" b="1" dirty="0">
                <a:solidFill>
                  <a:schemeClr val="accent1"/>
                </a:solidFill>
              </a:rPr>
              <a:t>:</a:t>
            </a:r>
            <a:endParaRPr lang="en-US" sz="14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Underground RF signal attenuation</a:t>
            </a:r>
            <a:r>
              <a:rPr lang="en-US" sz="1400" dirty="0"/>
              <a:t> and </a:t>
            </a:r>
            <a:r>
              <a:rPr lang="en-US" sz="1400" b="1" dirty="0"/>
              <a:t>multipath fading</a:t>
            </a:r>
            <a:r>
              <a:rPr lang="en-US" sz="1400" dirty="0"/>
              <a:t> through rock walls and tunnel bends.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Sensor drift</a:t>
            </a:r>
            <a:r>
              <a:rPr lang="en-US" sz="1400" dirty="0"/>
              <a:t>, </a:t>
            </a:r>
            <a:r>
              <a:rPr lang="en-US" sz="1400" b="1" dirty="0"/>
              <a:t>high humidity</a:t>
            </a:r>
            <a:r>
              <a:rPr lang="en-US" sz="1400" dirty="0"/>
              <a:t>, </a:t>
            </a:r>
            <a:r>
              <a:rPr lang="en-US" sz="1400" b="1" dirty="0"/>
              <a:t>dust accumulation</a:t>
            </a:r>
            <a:r>
              <a:rPr lang="en-US" sz="1400" dirty="0"/>
              <a:t>, and </a:t>
            </a:r>
            <a:r>
              <a:rPr lang="en-US" sz="1400" b="1" dirty="0"/>
              <a:t>false-positive vibration spikes</a:t>
            </a:r>
            <a:r>
              <a:rPr lang="en-US" sz="1400" dirty="0"/>
              <a:t> from routine mining operations (blasting/machinery).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Operational &amp; Environmental Risks: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Variable underground lighting</a:t>
            </a:r>
            <a:r>
              <a:rPr lang="en-US" sz="1400" dirty="0"/>
              <a:t> impacting camera-based crack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Battery drainage</a:t>
            </a:r>
            <a:r>
              <a:rPr lang="en-US" sz="1400" dirty="0"/>
              <a:t> and </a:t>
            </a:r>
            <a:r>
              <a:rPr lang="en-US" sz="1400" b="1" dirty="0"/>
              <a:t>power supply constraints</a:t>
            </a:r>
            <a:r>
              <a:rPr lang="en-US" sz="1400" dirty="0"/>
              <a:t> across deep active faces.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Market &amp; Adoption Risks: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Miner distrust</a:t>
            </a:r>
            <a:r>
              <a:rPr lang="en-US" sz="1400" dirty="0"/>
              <a:t> caused by </a:t>
            </a:r>
            <a:r>
              <a:rPr lang="en-US" sz="1400" b="1" dirty="0"/>
              <a:t>repeated false alarms</a:t>
            </a:r>
            <a:r>
              <a:rPr lang="en-US" sz="1400" dirty="0"/>
              <a:t> from threshold-only conventional systems.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6E3E23-C84C-E6F4-11C8-30ABD923FF5A}"/>
              </a:ext>
            </a:extLst>
          </p:cNvPr>
          <p:cNvSpPr txBox="1"/>
          <p:nvPr/>
        </p:nvSpPr>
        <p:spPr>
          <a:xfrm>
            <a:off x="162064" y="4567042"/>
            <a:ext cx="518437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Hybrid Telemetry (RF + Wired Fallback):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Deploy </a:t>
            </a:r>
            <a:r>
              <a:rPr lang="en-US" sz="1400" b="1" dirty="0"/>
              <a:t>Sub-GHz LoRa (433/868 MHz) mesh relays</a:t>
            </a:r>
            <a:r>
              <a:rPr lang="en-US" sz="1400" dirty="0"/>
              <a:t> with an industrial </a:t>
            </a:r>
            <a:r>
              <a:rPr lang="en-US" sz="1400" b="1" dirty="0"/>
              <a:t>RS-485 Modbus wired bus fallback</a:t>
            </a:r>
            <a:r>
              <a:rPr lang="en-US" sz="1400" dirty="0"/>
              <a:t> for uninterrupted subterranean transmission.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Multi-Modal Evidence Fusion: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 </a:t>
            </a:r>
            <a:r>
              <a:rPr lang="en-US" sz="1400" b="1" dirty="0"/>
              <a:t>Dempster-Shafer / Bayesian Fusion</a:t>
            </a:r>
            <a:r>
              <a:rPr lang="en-US" sz="1400" dirty="0"/>
              <a:t> to </a:t>
            </a:r>
            <a:r>
              <a:rPr lang="en-US" sz="1400" b="1" dirty="0"/>
              <a:t>cross-check independent sensor streams</a:t>
            </a:r>
            <a:r>
              <a:rPr lang="en-US" sz="1400" dirty="0"/>
              <a:t> (tilt, sag, acoustic, vision), </a:t>
            </a:r>
            <a:r>
              <a:rPr lang="en-US" sz="1400" b="1" dirty="0"/>
              <a:t>eliminating false alarms</a:t>
            </a:r>
            <a:r>
              <a:rPr lang="en-US" sz="1400" dirty="0"/>
              <a:t>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EF2DCB-1BB9-1164-FA49-A0766A0674EE}"/>
              </a:ext>
            </a:extLst>
          </p:cNvPr>
          <p:cNvSpPr txBox="1"/>
          <p:nvPr/>
        </p:nvSpPr>
        <p:spPr>
          <a:xfrm>
            <a:off x="5669569" y="4579961"/>
            <a:ext cx="636036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Dynamic Sensor-Health Awareness: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Dynamically down-weight failing nodes</a:t>
            </a:r>
            <a:r>
              <a:rPr lang="en-US" sz="1400" dirty="0"/>
              <a:t> and shift to a </a:t>
            </a:r>
            <a:r>
              <a:rPr lang="en-US" sz="1400" b="1" dirty="0"/>
              <a:t>degraded monitoring state</a:t>
            </a:r>
            <a:r>
              <a:rPr lang="en-US" sz="1400" dirty="0"/>
              <a:t> rather than falsely reporting an unsafe zone as green.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Triggered Edge-Vision with Active Illumination:</a:t>
            </a:r>
            <a:endParaRPr lang="en-US" sz="1600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 </a:t>
            </a:r>
            <a:r>
              <a:rPr lang="en-US" sz="1400" b="1" dirty="0"/>
              <a:t>sensor-triggered snapshot capture</a:t>
            </a:r>
            <a:r>
              <a:rPr lang="en-US" sz="1400" dirty="0"/>
              <a:t> with </a:t>
            </a:r>
            <a:r>
              <a:rPr lang="en-US" sz="1400" b="1" dirty="0"/>
              <a:t>dedicated high-output LEDs</a:t>
            </a:r>
            <a:r>
              <a:rPr lang="en-US" sz="1400" dirty="0"/>
              <a:t> and </a:t>
            </a:r>
            <a:r>
              <a:rPr lang="en-US" sz="1400" b="1" dirty="0"/>
              <a:t>lightweight edge-segmentation</a:t>
            </a:r>
            <a:r>
              <a:rPr lang="en-US" sz="1400" dirty="0"/>
              <a:t> (</a:t>
            </a:r>
            <a:r>
              <a:rPr lang="en-US" sz="1400" b="1" dirty="0"/>
              <a:t>OpenCV/YOLOv8-nano</a:t>
            </a:r>
            <a:r>
              <a:rPr lang="en-US" sz="1400" dirty="0"/>
              <a:t>) to isolate crack growth from airborne dust.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Optimal Placement (OSP):</a:t>
            </a:r>
            <a:r>
              <a:rPr lang="en-US" sz="1400" dirty="0"/>
              <a:t> Heuristic/PSO placement maximizes gallery coverage within strict hardware budgets.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75C38-2EC7-F44E-436C-9493427DF1C6}"/>
              </a:ext>
            </a:extLst>
          </p:cNvPr>
          <p:cNvSpPr txBox="1"/>
          <p:nvPr/>
        </p:nvSpPr>
        <p:spPr>
          <a:xfrm>
            <a:off x="3357115" y="4270257"/>
            <a:ext cx="441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Strategies for Overcoming These Challenges</a:t>
            </a:r>
            <a:r>
              <a:rPr lang="en-US" b="1" dirty="0"/>
              <a:t>:</a:t>
            </a:r>
            <a:endParaRPr lang="en-US" dirty="0"/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0761D-AE83-5918-3C54-198C4273F95F}"/>
              </a:ext>
            </a:extLst>
          </p:cNvPr>
          <p:cNvSpPr txBox="1"/>
          <p:nvPr/>
        </p:nvSpPr>
        <p:spPr>
          <a:xfrm>
            <a:off x="1834556" y="457326"/>
            <a:ext cx="1144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Feasibility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7408" name="Straight Connector 17407">
            <a:extLst>
              <a:ext uri="{FF2B5EF4-FFF2-40B4-BE49-F238E27FC236}">
                <a16:creationId xmlns:a16="http://schemas.microsoft.com/office/drawing/2014/main" id="{9D28E01A-2A4B-941D-3DB9-AF93BBACB644}"/>
              </a:ext>
            </a:extLst>
          </p:cNvPr>
          <p:cNvCxnSpPr>
            <a:cxnSpLocks/>
          </p:cNvCxnSpPr>
          <p:nvPr/>
        </p:nvCxnSpPr>
        <p:spPr>
          <a:xfrm>
            <a:off x="10963469" y="1035990"/>
            <a:ext cx="0" cy="3195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Straight Connector 17411">
            <a:extLst>
              <a:ext uri="{FF2B5EF4-FFF2-40B4-BE49-F238E27FC236}">
                <a16:creationId xmlns:a16="http://schemas.microsoft.com/office/drawing/2014/main" id="{F3CCEBB4-90F0-1DBA-227E-EDC77B761C7B}"/>
              </a:ext>
            </a:extLst>
          </p:cNvPr>
          <p:cNvCxnSpPr>
            <a:cxnSpLocks/>
          </p:cNvCxnSpPr>
          <p:nvPr/>
        </p:nvCxnSpPr>
        <p:spPr>
          <a:xfrm>
            <a:off x="5825818" y="1050721"/>
            <a:ext cx="0" cy="3195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Straight Connector 17412">
            <a:extLst>
              <a:ext uri="{FF2B5EF4-FFF2-40B4-BE49-F238E27FC236}">
                <a16:creationId xmlns:a16="http://schemas.microsoft.com/office/drawing/2014/main" id="{788D64D6-07E1-294B-4804-6A5D6B09D56A}"/>
              </a:ext>
            </a:extLst>
          </p:cNvPr>
          <p:cNvCxnSpPr>
            <a:cxnSpLocks/>
          </p:cNvCxnSpPr>
          <p:nvPr/>
        </p:nvCxnSpPr>
        <p:spPr>
          <a:xfrm flipH="1">
            <a:off x="5825818" y="4248718"/>
            <a:ext cx="5137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Straight Connector 17416">
            <a:extLst>
              <a:ext uri="{FF2B5EF4-FFF2-40B4-BE49-F238E27FC236}">
                <a16:creationId xmlns:a16="http://schemas.microsoft.com/office/drawing/2014/main" id="{CCC86C11-9D0A-E4D5-8E91-1299821B9F86}"/>
              </a:ext>
            </a:extLst>
          </p:cNvPr>
          <p:cNvCxnSpPr>
            <a:cxnSpLocks/>
          </p:cNvCxnSpPr>
          <p:nvPr/>
        </p:nvCxnSpPr>
        <p:spPr>
          <a:xfrm flipH="1">
            <a:off x="5825817" y="1035990"/>
            <a:ext cx="5137651" cy="14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Straight Connector 17418">
            <a:extLst>
              <a:ext uri="{FF2B5EF4-FFF2-40B4-BE49-F238E27FC236}">
                <a16:creationId xmlns:a16="http://schemas.microsoft.com/office/drawing/2014/main" id="{32A18DA1-C8AC-60F5-E503-11CC0B03E90C}"/>
              </a:ext>
            </a:extLst>
          </p:cNvPr>
          <p:cNvCxnSpPr>
            <a:cxnSpLocks/>
          </p:cNvCxnSpPr>
          <p:nvPr/>
        </p:nvCxnSpPr>
        <p:spPr>
          <a:xfrm flipH="1">
            <a:off x="5543621" y="813196"/>
            <a:ext cx="21366" cy="3459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Straight Connector 17419">
            <a:extLst>
              <a:ext uri="{FF2B5EF4-FFF2-40B4-BE49-F238E27FC236}">
                <a16:creationId xmlns:a16="http://schemas.microsoft.com/office/drawing/2014/main" id="{CD22E895-2CB2-1D56-ADA9-EBB842251561}"/>
              </a:ext>
            </a:extLst>
          </p:cNvPr>
          <p:cNvCxnSpPr>
            <a:cxnSpLocks/>
          </p:cNvCxnSpPr>
          <p:nvPr/>
        </p:nvCxnSpPr>
        <p:spPr>
          <a:xfrm flipH="1">
            <a:off x="64699" y="797763"/>
            <a:ext cx="10683" cy="34485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Straight Connector 17421">
            <a:extLst>
              <a:ext uri="{FF2B5EF4-FFF2-40B4-BE49-F238E27FC236}">
                <a16:creationId xmlns:a16="http://schemas.microsoft.com/office/drawing/2014/main" id="{C2E2BFD4-7EF2-0506-1A5B-2D18E24BA5CB}"/>
              </a:ext>
            </a:extLst>
          </p:cNvPr>
          <p:cNvCxnSpPr>
            <a:cxnSpLocks/>
          </p:cNvCxnSpPr>
          <p:nvPr/>
        </p:nvCxnSpPr>
        <p:spPr>
          <a:xfrm flipH="1">
            <a:off x="64699" y="4272727"/>
            <a:ext cx="5478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Straight Connector 17424">
            <a:extLst>
              <a:ext uri="{FF2B5EF4-FFF2-40B4-BE49-F238E27FC236}">
                <a16:creationId xmlns:a16="http://schemas.microsoft.com/office/drawing/2014/main" id="{CC2FAD4F-967F-A206-7B03-94BE6E24B7A2}"/>
              </a:ext>
            </a:extLst>
          </p:cNvPr>
          <p:cNvCxnSpPr>
            <a:cxnSpLocks/>
          </p:cNvCxnSpPr>
          <p:nvPr/>
        </p:nvCxnSpPr>
        <p:spPr>
          <a:xfrm flipH="1">
            <a:off x="75382" y="795703"/>
            <a:ext cx="5520997" cy="85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Straight Connector 17429">
            <a:extLst>
              <a:ext uri="{FF2B5EF4-FFF2-40B4-BE49-F238E27FC236}">
                <a16:creationId xmlns:a16="http://schemas.microsoft.com/office/drawing/2014/main" id="{6E8FDEC5-A0F7-1566-A085-5D8BB68EECE1}"/>
              </a:ext>
            </a:extLst>
          </p:cNvPr>
          <p:cNvCxnSpPr/>
          <p:nvPr/>
        </p:nvCxnSpPr>
        <p:spPr>
          <a:xfrm>
            <a:off x="75382" y="4593422"/>
            <a:ext cx="117256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Straight Connector 17431">
            <a:extLst>
              <a:ext uri="{FF2B5EF4-FFF2-40B4-BE49-F238E27FC236}">
                <a16:creationId xmlns:a16="http://schemas.microsoft.com/office/drawing/2014/main" id="{89AEFC47-2A9B-4AA9-3395-F2804F39DEE8}"/>
              </a:ext>
            </a:extLst>
          </p:cNvPr>
          <p:cNvCxnSpPr>
            <a:cxnSpLocks/>
          </p:cNvCxnSpPr>
          <p:nvPr/>
        </p:nvCxnSpPr>
        <p:spPr>
          <a:xfrm>
            <a:off x="11790378" y="4593422"/>
            <a:ext cx="5107" cy="2128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Straight Connector 17432">
            <a:extLst>
              <a:ext uri="{FF2B5EF4-FFF2-40B4-BE49-F238E27FC236}">
                <a16:creationId xmlns:a16="http://schemas.microsoft.com/office/drawing/2014/main" id="{8D13D830-E745-9544-C820-61219717B963}"/>
              </a:ext>
            </a:extLst>
          </p:cNvPr>
          <p:cNvCxnSpPr>
            <a:cxnSpLocks/>
          </p:cNvCxnSpPr>
          <p:nvPr/>
        </p:nvCxnSpPr>
        <p:spPr>
          <a:xfrm>
            <a:off x="86065" y="4575704"/>
            <a:ext cx="0" cy="2145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Straight Connector 17433">
            <a:extLst>
              <a:ext uri="{FF2B5EF4-FFF2-40B4-BE49-F238E27FC236}">
                <a16:creationId xmlns:a16="http://schemas.microsoft.com/office/drawing/2014/main" id="{C2417825-1790-9E0B-454B-6E634F3FE4FA}"/>
              </a:ext>
            </a:extLst>
          </p:cNvPr>
          <p:cNvCxnSpPr/>
          <p:nvPr/>
        </p:nvCxnSpPr>
        <p:spPr>
          <a:xfrm>
            <a:off x="96748" y="6721478"/>
            <a:ext cx="117256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68217"/>
            <a:ext cx="10972800" cy="424143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348" y="1501"/>
            <a:ext cx="1527588" cy="721299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5351B25-A88B-37FA-6FC9-BD4AF78E8F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083"/>
            <a:ext cx="1527588" cy="5232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Invictus</a:t>
            </a:r>
            <a:endParaRPr lang="en-IN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59DA6F-DD62-A7BA-208E-A5AA08DBC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48" y="4121937"/>
            <a:ext cx="7603776" cy="25995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2A4D7C-7B09-D69A-AFD6-A24D1EBC4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076" y="529055"/>
            <a:ext cx="2408129" cy="2057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DB01C43-6DE2-FE5F-3111-F296606F2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507" y="750656"/>
            <a:ext cx="3509893" cy="60062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409901F-AFF9-10FB-0CAE-71C4EE9B3F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248" y="815340"/>
            <a:ext cx="7444627" cy="319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912A852-4AF6-1D77-75EB-CDC8F399D4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73083"/>
            <a:ext cx="1527588" cy="52322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Invictus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E7D1F-590A-450F-3A8A-BB046439AD07}"/>
              </a:ext>
            </a:extLst>
          </p:cNvPr>
          <p:cNvSpPr txBox="1"/>
          <p:nvPr/>
        </p:nvSpPr>
        <p:spPr>
          <a:xfrm>
            <a:off x="809223" y="909712"/>
            <a:ext cx="4953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1. Structural Monitoring &amp; Early Damage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FD5BD-77BF-E9FD-1509-EBFBC02289AE}"/>
              </a:ext>
            </a:extLst>
          </p:cNvPr>
          <p:cNvSpPr txBox="1"/>
          <p:nvPr/>
        </p:nvSpPr>
        <p:spPr>
          <a:xfrm>
            <a:off x="1132813" y="1308784"/>
            <a:ext cx="8426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Journal of Sensors (2018)</a:t>
            </a:r>
            <a:r>
              <a:rPr lang="en-US" dirty="0"/>
              <a:t> — FBG-based condition monitoring and early damage detection for underground coal mines using IoT.</a:t>
            </a:r>
          </a:p>
          <a:p>
            <a:r>
              <a:rPr lang="en-US" dirty="0"/>
              <a:t>Reference : </a:t>
            </a:r>
            <a:r>
              <a:rPr lang="en-US" dirty="0">
                <a:hlinkClick r:id="rId4"/>
              </a:rPr>
              <a:t>View ↗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C8097-E0C7-E3ED-2341-D4DE72A45E04}"/>
              </a:ext>
            </a:extLst>
          </p:cNvPr>
          <p:cNvSpPr txBox="1"/>
          <p:nvPr/>
        </p:nvSpPr>
        <p:spPr>
          <a:xfrm>
            <a:off x="809223" y="2326324"/>
            <a:ext cx="4719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 Underground Coal Mine LoRa 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EC17C-55E7-1C03-9335-44755EC8D0A9}"/>
              </a:ext>
            </a:extLst>
          </p:cNvPr>
          <p:cNvSpPr txBox="1"/>
          <p:nvPr/>
        </p:nvSpPr>
        <p:spPr>
          <a:xfrm>
            <a:off x="1132813" y="2675068"/>
            <a:ext cx="76536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Processes (2023)</a:t>
            </a:r>
            <a:br>
              <a:rPr lang="en-US" dirty="0"/>
            </a:br>
            <a:r>
              <a:rPr lang="en-US" dirty="0"/>
              <a:t>LoRa-based communication for data transmission from underground coal mines</a:t>
            </a:r>
          </a:p>
          <a:p>
            <a:r>
              <a:rPr lang="en-US" dirty="0"/>
              <a:t>Reference :</a:t>
            </a:r>
            <a:r>
              <a:rPr lang="en-US" dirty="0">
                <a:hlinkClick r:id="rId5"/>
              </a:rPr>
              <a:t>View ↗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78E5B6-CD73-C4CA-3C72-C5BBA2820953}"/>
              </a:ext>
            </a:extLst>
          </p:cNvPr>
          <p:cNvSpPr txBox="1"/>
          <p:nvPr/>
        </p:nvSpPr>
        <p:spPr>
          <a:xfrm>
            <a:off x="809223" y="3763398"/>
            <a:ext cx="4315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3. Underground IoT &amp;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LoRaWAN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Monitoring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AE26C-3DA3-1852-8DDE-2A1EB8DF1CF8}"/>
              </a:ext>
            </a:extLst>
          </p:cNvPr>
          <p:cNvSpPr txBox="1"/>
          <p:nvPr/>
        </p:nvSpPr>
        <p:spPr>
          <a:xfrm>
            <a:off x="1132813" y="4182932"/>
            <a:ext cx="77475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Sensors (2024) — Review Article</a:t>
            </a:r>
            <a:br>
              <a:rPr lang="en-US" dirty="0"/>
            </a:br>
            <a:r>
              <a:rPr lang="en-US" dirty="0"/>
              <a:t>IoT/</a:t>
            </a:r>
            <a:r>
              <a:rPr lang="en-US" dirty="0" err="1"/>
              <a:t>LoRaWAN</a:t>
            </a:r>
            <a:r>
              <a:rPr lang="en-US" dirty="0"/>
              <a:t>-based wireless sensor networks for underground mine monitoring</a:t>
            </a:r>
          </a:p>
          <a:p>
            <a:r>
              <a:rPr lang="en-US" dirty="0"/>
              <a:t>Reference: </a:t>
            </a:r>
            <a:r>
              <a:rPr lang="en-US" dirty="0">
                <a:hlinkClick r:id="rId6"/>
              </a:rPr>
              <a:t>View ↗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F854D-2C71-799F-CC0C-F0A650698280}"/>
              </a:ext>
            </a:extLst>
          </p:cNvPr>
          <p:cNvSpPr txBox="1"/>
          <p:nvPr/>
        </p:nvSpPr>
        <p:spPr>
          <a:xfrm>
            <a:off x="809223" y="5321464"/>
            <a:ext cx="3646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4. Statutory &amp; Mine Safety Standards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AF9360-2224-253D-E5C2-2FC8ECCCF9BB}"/>
              </a:ext>
            </a:extLst>
          </p:cNvPr>
          <p:cNvSpPr txBox="1"/>
          <p:nvPr/>
        </p:nvSpPr>
        <p:spPr>
          <a:xfrm>
            <a:off x="1056845" y="5621883"/>
            <a:ext cx="6634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Directorate General of Mines Safety (DGMS), India</a:t>
            </a:r>
            <a:br>
              <a:rPr lang="en-US" dirty="0"/>
            </a:br>
            <a:r>
              <a:rPr lang="en-US" dirty="0"/>
              <a:t>Official regulations, safety guidelines and mine-monitoring standards</a:t>
            </a:r>
          </a:p>
          <a:p>
            <a:r>
              <a:rPr lang="en-US" dirty="0"/>
              <a:t>Reference: </a:t>
            </a:r>
            <a:r>
              <a:rPr lang="en-US" dirty="0">
                <a:hlinkClick r:id="rId7"/>
              </a:rPr>
              <a:t>View ↗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8534</TotalTime>
  <Words>810</Words>
  <Application>Microsoft Office PowerPoint</Application>
  <PresentationFormat>Widescreen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 Math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MSA WIN10 G</cp:lastModifiedBy>
  <cp:revision>152</cp:revision>
  <dcterms:created xsi:type="dcterms:W3CDTF">2013-12-12T18:46:50Z</dcterms:created>
  <dcterms:modified xsi:type="dcterms:W3CDTF">2026-08-30T12:13:18Z</dcterms:modified>
  <cp:category/>
</cp:coreProperties>
</file>